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82296" cy="51435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502920"/>
            <a:ext cx="1783080" cy="17830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0292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74320" y="2514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2.0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9260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Handoff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4480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0" y="777240"/>
            <a:ext cx="5440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Comparison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383280" y="260604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Property Insurance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383280" y="3127248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broker tool for comparing carrier quotes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commercial property types — side by side.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4462272"/>
            <a:ext cx="5440680" cy="640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459028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6858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949440" y="64008"/>
            <a:ext cx="1920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Handoff v2.0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330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658368" cy="19202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6583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960120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399032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user roles &amp; property types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1984248"/>
            <a:ext cx="3017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075688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 – 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27448" y="777240"/>
            <a:ext cx="41330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777240"/>
            <a:ext cx="658368" cy="1920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777240"/>
            <a:ext cx="6583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04688" y="960120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04688" y="1399032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ingestion, attributes, view &amp; reporting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04688" y="1984248"/>
            <a:ext cx="3017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04688" y="2075688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6 – 9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880360"/>
            <a:ext cx="41330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880360"/>
            <a:ext cx="658368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880360"/>
            <a:ext cx="6583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97280" y="3063240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3502152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shell, comparison grid &amp; action panel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97280" y="4087368"/>
            <a:ext cx="3017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4178808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11 – 14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27448" y="2880360"/>
            <a:ext cx="41330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27448" y="2880360"/>
            <a:ext cx="658368" cy="1920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7448" y="2880360"/>
            <a:ext cx="6583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504688" y="3063240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Specification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04688" y="3502152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data model, integrations &amp; build phases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04688" y="4087368"/>
            <a:ext cx="3017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4688" y="4178808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15 – 20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914400" cy="5486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8755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web-based tool that enables internal broker teams to compare commercial property insurance quotes from multiple carriers side by side — with automated coverage gap detection, weighted scoring, and client-ready PDF export."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47472" y="1993392"/>
            <a:ext cx="2011680" cy="26700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993392"/>
            <a:ext cx="201168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208483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47472" y="29443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Types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33375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Office, Retail, Industrial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Mixed-Use, Hotel,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Multi-Family, Special Purpose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96312" y="1993392"/>
            <a:ext cx="2011680" cy="26700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96312" y="1993392"/>
            <a:ext cx="20116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208483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2496312" y="29443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Carriers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96312" y="33375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gaps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gap detection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45152" y="1993392"/>
            <a:ext cx="2011680" cy="26700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45152" y="1993392"/>
            <a:ext cx="20116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208483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4645152" y="29443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Attributes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45152" y="33375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pricing, deductibles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ratings, exclusions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conditions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93992" y="1993392"/>
            <a:ext cx="2011680" cy="26700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93992" y="1993392"/>
            <a:ext cx="201168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93992" y="208483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6793992" y="29443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93992" y="33375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· Admin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Users: Internal broker team — not client-facing. Azure AD SSO required.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6858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Permissions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949440" y="64008"/>
            <a:ext cx="1920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33088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4133088" cy="3840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85039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" y="1234440"/>
            <a:ext cx="385876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share comparisons for own accounts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and parse carrier quotes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client-ready PDF reports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broker notes and recommendations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27448" y="777240"/>
            <a:ext cx="4133088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777240"/>
            <a:ext cx="413308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5464" y="85039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55464" y="1234440"/>
            <a:ext cx="385876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team accounts and comparisons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 for any account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quotes to producers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 across all accounts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880360"/>
            <a:ext cx="4133088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880360"/>
            <a:ext cx="4133088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295351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/ Manager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" y="3337560"/>
            <a:ext cx="385876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to all accounts and comparisons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and assignments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scoring weights and criteria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audit logs and version history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27448" y="2880360"/>
            <a:ext cx="4133088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27448" y="2880360"/>
            <a:ext cx="4133088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5464" y="295351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55464" y="3337560"/>
            <a:ext cx="385876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configuration and settings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template management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provisioning and deactivation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retention policy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6858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Types Supported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949440" y="64008"/>
            <a:ext cx="1920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Commercial Property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01168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960120"/>
            <a:ext cx="822960" cy="82296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8541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A/B/C · Single/Multi-Tenant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Office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68880" y="777240"/>
            <a:ext cx="201168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63240" y="960120"/>
            <a:ext cx="822960" cy="8229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560320" y="18745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218541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Mall · Anchored Center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· Power Center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17720" y="777240"/>
            <a:ext cx="201168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12080" y="96012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09160" y="18745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218541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· Distribution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Light/Heavy Mfg · Cold Storage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66560" y="777240"/>
            <a:ext cx="201168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60920" y="960120"/>
            <a:ext cx="822960" cy="8229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858000" y="18745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Mixed-Use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2280" y="218541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Office+Retail · Residential+Retail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Transit-Oriented Dev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22960" y="2880360"/>
            <a:ext cx="2286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554480" y="3081528"/>
            <a:ext cx="822960" cy="8229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54480" y="30815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14400" y="399592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43251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· Motel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Stay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401568" y="2880360"/>
            <a:ext cx="2286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33088" y="3081528"/>
            <a:ext cx="822960" cy="8229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33088" y="30815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3493008" y="399592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Multi-Family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93008" y="43251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Garden-Style · Mid-Rise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High-Rise Apartment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980176" y="2880360"/>
            <a:ext cx="2286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711696" y="3081528"/>
            <a:ext cx="822960" cy="8229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11696" y="30815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6071616" y="399592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Purpose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71616" y="43251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Self-Storage · Auto Dealership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Station · Car Wash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6858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FR-01: Quote Ingestion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949440" y="64008"/>
            <a:ext cx="1920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3308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4133088" cy="8229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2354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252728"/>
            <a:ext cx="391363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form per carrier per property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validation with required/optional flags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pre-selection from approved list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detection: same carrier + same risk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3308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777240"/>
            <a:ext cx="4133088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92354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18888" y="1252728"/>
            <a:ext cx="391363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Excel (.xlsx), Word (.docx) supported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upload for multi-property portfolios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Auto-parse common carrier quote templates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field correction after auto-parse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4133088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26080"/>
            <a:ext cx="4133088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07238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" y="3401568"/>
            <a:ext cx="39136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building limit, premium, deductible, carrier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ACV vs RC discrepancy automatically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if coinsurance &lt; 80%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quotes expiring within 14 days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if carrier not in approved list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133088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26080"/>
            <a:ext cx="4133088" cy="82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307238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 (Configurable)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18888" y="3401568"/>
            <a:ext cx="39136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Travelers, Zurich, Hartford, AIG, Chubb, CNA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carrier entry for non-standard markets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Best rating field (manual entry or auto-lookup)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Admitted vs non-admitted flag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lines tax applicability flag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6858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FR-02: Key Comparison Attributes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949440" y="64008"/>
            <a:ext cx="1920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2697480" cy="8229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052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Coverage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23444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Limit · Valuation (RC vs ACV) · BPP · Coverage Form (Special/Broad/Basic) · Coinsurance %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72968" y="777240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777240"/>
            <a:ext cx="269748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9052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Element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64408" y="123444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Interruption / Loss of Rents · Waiting Period (days) · Indemnity Period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25896" y="777240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25896" y="777240"/>
            <a:ext cx="2697480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336" y="9052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17336" y="123444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Liability per Occurrence &amp; Aggregate · Umbrella / Excess Limit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212848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212848"/>
            <a:ext cx="2697480" cy="82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3408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Deductibles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267004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Occurrence · Wind/Hail (% of TIV) · Flood deductible · Earthquake deductible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72968" y="2212848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2212848"/>
            <a:ext cx="2697480" cy="8229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23408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64408" y="267004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(sublimit amount or excluded) · Earthquake (sublimit or excluded) · NFIP alternative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25896" y="2212848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25896" y="2212848"/>
            <a:ext cx="2697480" cy="822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17336" y="23408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Coverages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17336" y="267004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Breakdown · Ordinance or Law · Hired/Non-Owned Auto · Cyber (if applicable)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648456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648456"/>
            <a:ext cx="2697480" cy="8229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7764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4105656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Premium · Premium per SF · Premium per $100 insured value · Premium breakdown by line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172968" y="3648456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72968" y="3648456"/>
            <a:ext cx="2697480" cy="8229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64408" y="37764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Profile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64408" y="4105656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Name · AM Best Rating · Admitted/Non-Admitted Status · Quote Expiry Date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025896" y="3648456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25896" y="3648456"/>
            <a:ext cx="2697480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17336" y="37764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Conditions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17336" y="4105656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Required · Binding Requirements · Surplus Lines Tax · Special Conditions/Warranties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6858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FR-03: Comparison View &amp; Gap Detection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949440" y="64008"/>
            <a:ext cx="1920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532180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73152" cy="60350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841248"/>
            <a:ext cx="5010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Grid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2064" y="1088136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6 carriers per risk. Sticky attribute column on left. Horizontal scroll for extra carriers.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453896"/>
            <a:ext cx="532180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53896"/>
            <a:ext cx="73152" cy="6035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517904"/>
            <a:ext cx="5010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Coding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" y="1764792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best in class  |  Yellow = mid-range / review needed  |  Red = gap or concern  |  Gray = excluded / N/A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130552"/>
            <a:ext cx="532180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130552"/>
            <a:ext cx="73152" cy="6035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194560"/>
            <a:ext cx="5010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Gap Detection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" y="2441448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ACV valuation, flood exclusion, narrow BI limit, Broad/Basic coverage form — auto-flagged per rule engine.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807208"/>
            <a:ext cx="532180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07208"/>
            <a:ext cx="73152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2871216"/>
            <a:ext cx="5010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" y="3118104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configures weights for price vs coverage breadth. Tool scores and ranks each carrier automatically.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483864"/>
            <a:ext cx="532180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483864"/>
            <a:ext cx="73152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3547872"/>
            <a:ext cx="5010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Annotations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" y="3794760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Per-quote notes field. Recommend a carrier with a required reason text. Saved to comparison record.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160520"/>
            <a:ext cx="532180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160520"/>
            <a:ext cx="73152" cy="6035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4224528"/>
            <a:ext cx="5010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View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" y="4471416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all properties in a multi-property submission. Aggregate total premium row at bottom.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833872" y="777240"/>
            <a:ext cx="299008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61888" y="850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Legend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61888" y="1234440"/>
            <a:ext cx="201168" cy="1920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1234440"/>
            <a:ext cx="2487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 class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61888" y="1499616"/>
            <a:ext cx="201168" cy="1920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1499616"/>
            <a:ext cx="2487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— review needed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61888" y="1764792"/>
            <a:ext cx="201168" cy="1920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1764792"/>
            <a:ext cx="2487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 — flag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61888" y="2029968"/>
            <a:ext cx="201168" cy="19202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36208" y="2029968"/>
            <a:ext cx="2487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/ N/A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833872" y="2560320"/>
            <a:ext cx="2990088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833872" y="2560320"/>
            <a:ext cx="2990088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0" y="2596896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 Rules (MVP)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943600" y="2944368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= ACV (not Replacement Cost)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Flood: excluded, no NFIP fallback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BI/Loss of Rents &lt; 10% of building value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form = Broad or Basic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Coinsurance &lt; 80%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Wind/Hail deductible &gt; 3% TIV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Best rating below A-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expires within 7 days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6858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FR-04: Reporting, Output &amp; Account Management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949440" y="64008"/>
            <a:ext cx="1920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69748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2697480" cy="3840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822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Export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234440"/>
            <a:ext cx="2468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PDF comparison report (client-ready)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 for further analysis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share link (SSO-gated)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summary email draft generator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 per comparison with diff view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777240"/>
            <a:ext cx="269748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777240"/>
            <a:ext cx="26974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2696" y="822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82696" y="1234440"/>
            <a:ext cx="2468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account tagging and global search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and Account Manager assignment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Multi-property portfolio grouping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version history per client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alerts at 60 and 90 days pre-expiry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25896" y="777240"/>
            <a:ext cx="269748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25896" y="777240"/>
            <a:ext cx="269748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35624" y="822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35624" y="1234440"/>
            <a:ext cx="2468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property type, coverage, premium range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carrier, AM Best rating, expiry window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client name, address, policy number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Sort: premium, coverage score, carrier rating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filter presets per user role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914400" cy="5486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2697480" cy="1783080"/>
          </a:xfrm>
          <a:prstGeom prst="rect">
            <a:avLst/>
          </a:prstGeom>
          <a:solidFill>
            <a:srgbClr val="FFFFFF">
              <a:alpha val="11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697480" cy="8229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338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44752"/>
            <a:ext cx="2514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SSO — required for all users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(4 roles)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at rest (AES-256) + in transit (TLS 1.3)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log: all edits logged with user + timestamp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72968" y="1005840"/>
            <a:ext cx="2697480" cy="1783080"/>
          </a:xfrm>
          <a:prstGeom prst="rect">
            <a:avLst/>
          </a:prstGeom>
          <a:solidFill>
            <a:srgbClr val="FFFFFF">
              <a:alpha val="11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72968" y="1005840"/>
            <a:ext cx="269748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11338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64408" y="1444752"/>
            <a:ext cx="2514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page load &lt; 3s (up to 10 quotes)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generation &lt; 10 seconds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concurrent users supported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&lt; 500ms p95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25896" y="1005840"/>
            <a:ext cx="2697480" cy="1783080"/>
          </a:xfrm>
          <a:prstGeom prst="rect">
            <a:avLst/>
          </a:prstGeom>
          <a:solidFill>
            <a:srgbClr val="FFFFFF">
              <a:alpha val="11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25896" y="1005840"/>
            <a:ext cx="2697480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17336" y="11338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17336" y="1444752"/>
            <a:ext cx="2514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saved comparisons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Horizontally scalable on Azure App Service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carrier templates manageable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deployment (Phase 3 option)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944368"/>
            <a:ext cx="2697480" cy="1783080"/>
          </a:xfrm>
          <a:prstGeom prst="rect">
            <a:avLst/>
          </a:prstGeom>
          <a:solidFill>
            <a:srgbClr val="FFFFFF">
              <a:alpha val="11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944368"/>
            <a:ext cx="2697480" cy="82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7238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383280"/>
            <a:ext cx="2514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E&amp;O-safe audit trail (immutable logs)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retention policy configurable per state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 / state privacy law compliance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NAIC data security guideline alignment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72968" y="2944368"/>
            <a:ext cx="2697480" cy="1783080"/>
          </a:xfrm>
          <a:prstGeom prst="rect">
            <a:avLst/>
          </a:prstGeom>
          <a:solidFill>
            <a:srgbClr val="FFFFFF">
              <a:alpha val="11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72968" y="2944368"/>
            <a:ext cx="2697480" cy="8229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307238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64408" y="3383280"/>
            <a:ext cx="2514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training for basic Producer usage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(tablet + phone)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Browser: Chrome, Edge, Safari, Firefox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accessibility standard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25896" y="2944368"/>
            <a:ext cx="2697480" cy="1783080"/>
          </a:xfrm>
          <a:prstGeom prst="rect">
            <a:avLst/>
          </a:prstGeom>
          <a:solidFill>
            <a:srgbClr val="FFFFFF">
              <a:alpha val="11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25896" y="2944368"/>
            <a:ext cx="2697480" cy="822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7336" y="307238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17336" y="3383280"/>
            <a:ext cx="2514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EPIC AMS (Phase 2)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AMS360 data sync (Phase 2)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Carrier portal APIs (Phase 3)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for future integrations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77440"/>
            <a:ext cx="9144000" cy="64008"/>
          </a:xfrm>
          <a:prstGeom prst="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FFFFF">
                    <a:alpha val="9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shell layout  ·  Comparison grid detail  ·  Action panel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4988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12 – 14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6858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Wireframe: Full Application Layout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949440" y="64008"/>
            <a:ext cx="1920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1 of 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56032" y="685800"/>
            <a:ext cx="8631936" cy="4096512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685800"/>
            <a:ext cx="8631936" cy="40233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7680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  QuoteCompare Pro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27832" y="777240"/>
            <a:ext cx="960120" cy="2286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27832" y="77724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251960" y="777240"/>
            <a:ext cx="960120" cy="2286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77724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276088" y="777240"/>
            <a:ext cx="960120" cy="2286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6088" y="77724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562088" y="768096"/>
            <a:ext cx="1188720" cy="24688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768096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 Quote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6032" y="1088136"/>
            <a:ext cx="1719072" cy="3694176"/>
          </a:xfrm>
          <a:prstGeom prst="rect">
            <a:avLst/>
          </a:prstGeom>
          <a:solidFill>
            <a:srgbClr val="E8EDF2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1978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10896" y="143560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Dashboard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10896" y="169164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My Accounts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1947672"/>
            <a:ext cx="1719072" cy="24688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194767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Comparisons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10896" y="2203704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Reports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10896" y="245973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Templates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10896" y="271576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Admin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472" y="3081528"/>
            <a:ext cx="153619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172968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347472" y="3447288"/>
            <a:ext cx="15361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447288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Type  [▼]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47472" y="3730752"/>
            <a:ext cx="15361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730752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 [▼]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47472" y="4014216"/>
            <a:ext cx="15361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14216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Range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7472" y="4297680"/>
            <a:ext cx="1536192" cy="2286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297680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[Apply Filters]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975104" y="1088136"/>
            <a:ext cx="6912864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84832" y="1179576"/>
            <a:ext cx="6748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Account: Westfield Properties LLC  |  1234 Commerce Dr, Houston TX  |  Mixed-Use  |  Eff: 05/01/2026  |  Producer: J. Smith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975104" y="1545336"/>
            <a:ext cx="6912864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11680" y="1563624"/>
            <a:ext cx="1316736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11680" y="156362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Overview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383280" y="1563624"/>
            <a:ext cx="131673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156362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— Class B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754880" y="1563624"/>
            <a:ext cx="1316736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156362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Strip Mall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126480" y="1563624"/>
            <a:ext cx="1316736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156362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498080" y="1563624"/>
            <a:ext cx="1316736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98080" y="156362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Mixed-Use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975104" y="1856232"/>
            <a:ext cx="6912864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75104" y="1856232"/>
            <a:ext cx="6912864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20824" y="18562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456432" y="18562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736592" y="18562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ZURICH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016752" y="18562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HARTFORD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296912" y="18562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975104" y="2112264"/>
            <a:ext cx="691286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29968" y="211226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Premium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456432" y="21122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$42,800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4736592" y="21122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$38,500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016752" y="2112264"/>
            <a:ext cx="1234440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16752" y="21122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$31,200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7296912" y="21122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$47,600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975104" y="2386584"/>
            <a:ext cx="6912864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029968" y="238658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456432" y="2386584"/>
            <a:ext cx="1234440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56432" y="23865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736592" y="2386584"/>
            <a:ext cx="1234440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36592" y="23865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6016752" y="2386584"/>
            <a:ext cx="1234440" cy="274320"/>
          </a:xfrm>
          <a:prstGeom prst="rect">
            <a:avLst/>
          </a:prstGeom>
          <a:solidFill>
            <a:srgbClr val="FECAC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16752" y="23865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ACV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296912" y="2386584"/>
            <a:ext cx="1234440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96912" y="23865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1975104" y="2660904"/>
            <a:ext cx="691286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029968" y="266090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Limit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3456432" y="26609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$12,000,000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4736592" y="26609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$12,000,000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6016752" y="26609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$12,000,000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7296912" y="26609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$12,000,000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1975104" y="2935224"/>
            <a:ext cx="6912864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029968" y="293522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Deductible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3456432" y="29352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4736592" y="2935224"/>
            <a:ext cx="1234440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736592" y="29352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6016752" y="2935224"/>
            <a:ext cx="1234440" cy="274320"/>
          </a:xfrm>
          <a:prstGeom prst="rect">
            <a:avLst/>
          </a:prstGeom>
          <a:solidFill>
            <a:srgbClr val="FECAC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016752" y="29352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$25,000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7296912" y="29352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1975104" y="3209544"/>
            <a:ext cx="691286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029968" y="320954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Bus. Interruption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3456432" y="32095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$1,200,000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736592" y="3209544"/>
            <a:ext cx="1234440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736592" y="32095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$1,500,000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6016752" y="3209544"/>
            <a:ext cx="1234440" cy="27432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016752" y="32095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$1,000,000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7296912" y="3209544"/>
            <a:ext cx="1234440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296912" y="32095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$1,800,000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1975104" y="3483864"/>
            <a:ext cx="6912864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029968" y="348386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Coverage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3456432" y="3483864"/>
            <a:ext cx="1234440" cy="27432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456432" y="34838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 sub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4736592" y="3483864"/>
            <a:ext cx="1234440" cy="274320"/>
          </a:xfrm>
          <a:prstGeom prst="rect">
            <a:avLst/>
          </a:prstGeom>
          <a:solidFill>
            <a:srgbClr val="FECAC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736592" y="34838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6016752" y="3483864"/>
            <a:ext cx="1234440" cy="27432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016752" y="34838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 sub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7296912" y="3483864"/>
            <a:ext cx="1234440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296912" y="34838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 sub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1975104" y="3758184"/>
            <a:ext cx="691286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029968" y="375818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Form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3456432" y="37581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4736592" y="37581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6016752" y="3758184"/>
            <a:ext cx="1234440" cy="27432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016752" y="37581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7296912" y="37581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1975104" y="4032504"/>
            <a:ext cx="6912864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029968" y="403250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Best</a:t>
            </a:r>
            <a:endParaRPr lang="en-US" sz="750" dirty="0"/>
          </a:p>
        </p:txBody>
      </p:sp>
      <p:sp>
        <p:nvSpPr>
          <p:cNvPr id="114" name="Text 112"/>
          <p:cNvSpPr/>
          <p:nvPr/>
        </p:nvSpPr>
        <p:spPr>
          <a:xfrm>
            <a:off x="3456432" y="40325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4736592" y="40325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6016752" y="40325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7296912" y="40325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1975104" y="4261104"/>
            <a:ext cx="6912864" cy="521208"/>
          </a:xfrm>
          <a:prstGeom prst="rect">
            <a:avLst/>
          </a:prstGeom>
          <a:solidFill>
            <a:srgbClr val="EEF2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066544" y="4334256"/>
            <a:ext cx="1115568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066544" y="433425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Gaps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3273552" y="4334256"/>
            <a:ext cx="1115568" cy="23774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273552" y="433425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Quotes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4480560" y="4334256"/>
            <a:ext cx="1115568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480560" y="433425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5687568" y="4334256"/>
            <a:ext cx="1115568" cy="2377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687568" y="433425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Link</a:t>
            </a:r>
            <a:endParaRPr lang="en-US" sz="750" dirty="0"/>
          </a:p>
        </p:txBody>
      </p:sp>
      <p:sp>
        <p:nvSpPr>
          <p:cNvPr id="127" name="Text 125"/>
          <p:cNvSpPr/>
          <p:nvPr/>
        </p:nvSpPr>
        <p:spPr>
          <a:xfrm>
            <a:off x="7050024" y="433425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8010144" y="4334256"/>
            <a:ext cx="1115568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010144" y="433425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▼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9244584" y="4334256"/>
            <a:ext cx="1005840" cy="23774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244584" y="43342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Share</a:t>
            </a:r>
            <a:endParaRPr lang="en-US" sz="750" dirty="0"/>
          </a:p>
        </p:txBody>
      </p:sp>
      <p:sp>
        <p:nvSpPr>
          <p:cNvPr id="132" name="Text 130"/>
          <p:cNvSpPr/>
          <p:nvPr/>
        </p:nvSpPr>
        <p:spPr>
          <a:xfrm>
            <a:off x="2066544" y="460857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Notes: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2633472" y="4599432"/>
            <a:ext cx="7589520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670048" y="4599432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Hartford lowest premium but ACV valuation — recommend Zurich for best coverage value…</a:t>
            </a:r>
            <a:endParaRPr lang="en-US" sz="650" dirty="0"/>
          </a:p>
        </p:txBody>
      </p:sp>
      <p:sp>
        <p:nvSpPr>
          <p:cNvPr id="135" name="Shape 133"/>
          <p:cNvSpPr/>
          <p:nvPr/>
        </p:nvSpPr>
        <p:spPr>
          <a:xfrm>
            <a:off x="256032" y="4818888"/>
            <a:ext cx="91440" cy="16459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74904" y="4818888"/>
            <a:ext cx="1283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Nav Bar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1694688" y="4818888"/>
            <a:ext cx="91440" cy="16459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813560" y="4818888"/>
            <a:ext cx="1283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Sidebar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3133344" y="4818888"/>
            <a:ext cx="91440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252216" y="4818888"/>
            <a:ext cx="1283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Acct Header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4572000" y="4818888"/>
            <a:ext cx="91440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690872" y="4818888"/>
            <a:ext cx="1283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Tab Rail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6010656" y="4818888"/>
            <a:ext cx="9144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129528" y="4818888"/>
            <a:ext cx="1283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Grid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7449312" y="4818888"/>
            <a:ext cx="91440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568184" y="4818888"/>
            <a:ext cx="1283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 Action Bar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6858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Wireframe: Comparison Grid — Detail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949440" y="64008"/>
            <a:ext cx="1920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2 of 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92608" y="713232"/>
            <a:ext cx="57607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713232"/>
            <a:ext cx="576072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7132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792224" y="713232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871216" y="713232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ZURICH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950208" y="713232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HARTFORD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029200" y="713232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92608" y="1024128"/>
            <a:ext cx="5760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" y="1024128"/>
            <a:ext cx="1463040" cy="27432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0241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4" y="1024128"/>
            <a:ext cx="1042416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92224" y="102412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871216" y="1024128"/>
            <a:ext cx="1042416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71216" y="102412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950208" y="1024128"/>
            <a:ext cx="1042416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0208" y="102412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0" y="1024128"/>
            <a:ext cx="1042416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02412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92608" y="1298448"/>
            <a:ext cx="57607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129844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Basis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792224" y="1298448"/>
            <a:ext cx="1042416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92224" y="129844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871216" y="1298448"/>
            <a:ext cx="1042416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71216" y="129844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950208" y="1298448"/>
            <a:ext cx="1042416" cy="274320"/>
          </a:xfrm>
          <a:prstGeom prst="rect">
            <a:avLst/>
          </a:prstGeom>
          <a:solidFill>
            <a:srgbClr val="FECAC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50208" y="129844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ACV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029200" y="1298448"/>
            <a:ext cx="1042416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129844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92608" y="1572768"/>
            <a:ext cx="5760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157276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Form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792224" y="1572768"/>
            <a:ext cx="1042416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92224" y="157276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871216" y="1572768"/>
            <a:ext cx="1042416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71216" y="157276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950208" y="1572768"/>
            <a:ext cx="1042416" cy="27432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50208" y="157276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029200" y="1572768"/>
            <a:ext cx="1042416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157276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92608" y="1847088"/>
            <a:ext cx="57607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1847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Coinsurance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792224" y="184708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871216" y="1847088"/>
            <a:ext cx="1042416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71216" y="184708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950208" y="184708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029200" y="1847088"/>
            <a:ext cx="1042416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0" y="184708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92608" y="2121408"/>
            <a:ext cx="5760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2608" y="2121408"/>
            <a:ext cx="1463040" cy="27432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212140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1792224" y="212140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$12,000,000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871216" y="212140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$12,000,000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950208" y="212140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$12,000,000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029200" y="212140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$12,000,000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92608" y="2395728"/>
            <a:ext cx="57607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7472" y="23957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Bus. Personal Property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792224" y="239572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$500,000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2871216" y="239572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$500,000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950208" y="2395728"/>
            <a:ext cx="1042416" cy="27432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50208" y="239572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$250,000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5029200" y="239572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$500,000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92608" y="2670048"/>
            <a:ext cx="5760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7472" y="267004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Interruption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792224" y="267004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$1,200,000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871216" y="2670048"/>
            <a:ext cx="1042416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71216" y="267004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$1,500,000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950208" y="2670048"/>
            <a:ext cx="1042416" cy="27432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950208" y="267004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$1,000,000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029200" y="2670048"/>
            <a:ext cx="1042416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29200" y="267004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$1,800,000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92608" y="2944368"/>
            <a:ext cx="57607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47472" y="294436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Liability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1792224" y="294436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$1M/$2M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2871216" y="294436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$1M/$2M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3950208" y="294436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$1M/$2M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5029200" y="294436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$1M/$2M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92608" y="3218688"/>
            <a:ext cx="5760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92608" y="3218688"/>
            <a:ext cx="1463040" cy="27432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47472" y="32186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DEDUCTIBLES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1792224" y="321868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2871216" y="3218688"/>
            <a:ext cx="1042416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871216" y="321868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3950208" y="3218688"/>
            <a:ext cx="1042416" cy="274320"/>
          </a:xfrm>
          <a:prstGeom prst="rect">
            <a:avLst/>
          </a:prstGeom>
          <a:solidFill>
            <a:srgbClr val="FECAC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950208" y="321868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$25,000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5029200" y="321868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92608" y="3493008"/>
            <a:ext cx="57607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47472" y="349300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Wind/Hail Deductible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1792224" y="349300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TIV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2871216" y="349300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TIV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3950208" y="3493008"/>
            <a:ext cx="1042416" cy="27432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950208" y="349300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TIV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5029200" y="3493008"/>
            <a:ext cx="1042416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029200" y="349300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TIV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292608" y="3767328"/>
            <a:ext cx="5760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92608" y="3767328"/>
            <a:ext cx="1463040" cy="27432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47472" y="37673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COVERAGE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1792224" y="3767328"/>
            <a:ext cx="1042416" cy="27432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792224" y="376732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 sub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2871216" y="3767328"/>
            <a:ext cx="1042416" cy="274320"/>
          </a:xfrm>
          <a:prstGeom prst="rect">
            <a:avLst/>
          </a:prstGeom>
          <a:solidFill>
            <a:srgbClr val="FECAC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871216" y="376732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3950208" y="3767328"/>
            <a:ext cx="1042416" cy="27432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950208" y="376732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 sub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5029200" y="3767328"/>
            <a:ext cx="1042416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029200" y="376732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 sub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292608" y="4041648"/>
            <a:ext cx="57607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47472" y="404164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 Coverage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1792224" y="4041648"/>
            <a:ext cx="1042416" cy="274320"/>
          </a:xfrm>
          <a:prstGeom prst="rect">
            <a:avLst/>
          </a:prstGeom>
          <a:solidFill>
            <a:srgbClr val="FECAC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792224" y="404164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2871216" y="4041648"/>
            <a:ext cx="1042416" cy="274320"/>
          </a:xfrm>
          <a:prstGeom prst="rect">
            <a:avLst/>
          </a:prstGeom>
          <a:solidFill>
            <a:srgbClr val="FECAC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871216" y="404164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3950208" y="4041648"/>
            <a:ext cx="1042416" cy="274320"/>
          </a:xfrm>
          <a:prstGeom prst="rect">
            <a:avLst/>
          </a:prstGeom>
          <a:solidFill>
            <a:srgbClr val="FECAC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950208" y="404164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5029200" y="4041648"/>
            <a:ext cx="1042416" cy="274320"/>
          </a:xfrm>
          <a:prstGeom prst="rect">
            <a:avLst/>
          </a:prstGeom>
          <a:solidFill>
            <a:srgbClr val="FECAC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029200" y="404164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292608" y="4315968"/>
            <a:ext cx="5760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92608" y="4315968"/>
            <a:ext cx="1463040" cy="27432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47472" y="431596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1792224" y="431596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$42,800</a:t>
            </a:r>
            <a:endParaRPr lang="en-US" sz="750" dirty="0"/>
          </a:p>
        </p:txBody>
      </p:sp>
      <p:sp>
        <p:nvSpPr>
          <p:cNvPr id="122" name="Text 120"/>
          <p:cNvSpPr/>
          <p:nvPr/>
        </p:nvSpPr>
        <p:spPr>
          <a:xfrm>
            <a:off x="2871216" y="431596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$38,500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3950208" y="4315968"/>
            <a:ext cx="1042416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950208" y="431596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$31,200</a:t>
            </a:r>
            <a:endParaRPr lang="en-US" sz="750" dirty="0"/>
          </a:p>
        </p:txBody>
      </p:sp>
      <p:sp>
        <p:nvSpPr>
          <p:cNvPr id="125" name="Text 123"/>
          <p:cNvSpPr/>
          <p:nvPr/>
        </p:nvSpPr>
        <p:spPr>
          <a:xfrm>
            <a:off x="5029200" y="431596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$47,600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292608" y="4590288"/>
            <a:ext cx="57607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47472" y="45902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per SF</a:t>
            </a:r>
            <a:endParaRPr lang="en-US" sz="800" dirty="0"/>
          </a:p>
        </p:txBody>
      </p:sp>
      <p:sp>
        <p:nvSpPr>
          <p:cNvPr id="128" name="Text 126"/>
          <p:cNvSpPr/>
          <p:nvPr/>
        </p:nvSpPr>
        <p:spPr>
          <a:xfrm>
            <a:off x="1792224" y="459028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$0.95</a:t>
            </a:r>
            <a:endParaRPr lang="en-US" sz="750" dirty="0"/>
          </a:p>
        </p:txBody>
      </p:sp>
      <p:sp>
        <p:nvSpPr>
          <p:cNvPr id="129" name="Text 127"/>
          <p:cNvSpPr/>
          <p:nvPr/>
        </p:nvSpPr>
        <p:spPr>
          <a:xfrm>
            <a:off x="2871216" y="459028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$0.86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3950208" y="4590288"/>
            <a:ext cx="1042416" cy="27432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950208" y="459028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$0.69</a:t>
            </a:r>
            <a:endParaRPr lang="en-US" sz="750" dirty="0"/>
          </a:p>
        </p:txBody>
      </p:sp>
      <p:sp>
        <p:nvSpPr>
          <p:cNvPr id="132" name="Text 130"/>
          <p:cNvSpPr/>
          <p:nvPr/>
        </p:nvSpPr>
        <p:spPr>
          <a:xfrm>
            <a:off x="5029200" y="459028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$1.06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6236208" y="713232"/>
            <a:ext cx="263347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4" name="Shape 132"/>
          <p:cNvSpPr/>
          <p:nvPr/>
        </p:nvSpPr>
        <p:spPr>
          <a:xfrm>
            <a:off x="6236208" y="713232"/>
            <a:ext cx="64008" cy="6400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400800" y="768096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Column</a:t>
            </a:r>
            <a:endParaRPr lang="en-US" sz="1000" dirty="0"/>
          </a:p>
        </p:txBody>
      </p:sp>
      <p:sp>
        <p:nvSpPr>
          <p:cNvPr id="136" name="Text 134"/>
          <p:cNvSpPr/>
          <p:nvPr/>
        </p:nvSpPr>
        <p:spPr>
          <a:xfrm>
            <a:off x="6400800" y="101498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column stays fixed when carriers scroll horizontally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6236208" y="1426464"/>
            <a:ext cx="263347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8" name="Shape 136"/>
          <p:cNvSpPr/>
          <p:nvPr/>
        </p:nvSpPr>
        <p:spPr>
          <a:xfrm>
            <a:off x="6236208" y="1426464"/>
            <a:ext cx="64008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400800" y="1481328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Coding</a:t>
            </a:r>
            <a:endParaRPr lang="en-US" sz="1000" dirty="0"/>
          </a:p>
        </p:txBody>
      </p:sp>
      <p:sp>
        <p:nvSpPr>
          <p:cNvPr id="140" name="Text 138"/>
          <p:cNvSpPr/>
          <p:nvPr/>
        </p:nvSpPr>
        <p:spPr>
          <a:xfrm>
            <a:off x="6400800" y="172821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Per-cell: green best, amber caution, red gap. Text inherits cell color.</a:t>
            </a:r>
            <a:endParaRPr lang="en-US" sz="850" dirty="0"/>
          </a:p>
        </p:txBody>
      </p:sp>
      <p:sp>
        <p:nvSpPr>
          <p:cNvPr id="141" name="Shape 139"/>
          <p:cNvSpPr/>
          <p:nvPr/>
        </p:nvSpPr>
        <p:spPr>
          <a:xfrm>
            <a:off x="6236208" y="2139696"/>
            <a:ext cx="263347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2" name="Shape 140"/>
          <p:cNvSpPr/>
          <p:nvPr/>
        </p:nvSpPr>
        <p:spPr>
          <a:xfrm>
            <a:off x="6236208" y="2139696"/>
            <a:ext cx="64008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400800" y="2194560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Headers</a:t>
            </a:r>
            <a:endParaRPr lang="en-US" sz="1000" dirty="0"/>
          </a:p>
        </p:txBody>
      </p:sp>
      <p:sp>
        <p:nvSpPr>
          <p:cNvPr id="144" name="Text 142"/>
          <p:cNvSpPr/>
          <p:nvPr/>
        </p:nvSpPr>
        <p:spPr>
          <a:xfrm>
            <a:off x="6400800" y="244144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rows grouped by category (Coverage, Limits, Deductibles, etc.)</a:t>
            </a:r>
            <a:endParaRPr lang="en-US" sz="850" dirty="0"/>
          </a:p>
        </p:txBody>
      </p:sp>
      <p:sp>
        <p:nvSpPr>
          <p:cNvPr id="145" name="Shape 143"/>
          <p:cNvSpPr/>
          <p:nvPr/>
        </p:nvSpPr>
        <p:spPr>
          <a:xfrm>
            <a:off x="6236208" y="2852928"/>
            <a:ext cx="263347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6" name="Shape 144"/>
          <p:cNvSpPr/>
          <p:nvPr/>
        </p:nvSpPr>
        <p:spPr>
          <a:xfrm>
            <a:off x="6236208" y="2852928"/>
            <a:ext cx="64008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400800" y="290779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</a:t>
            </a:r>
            <a:endParaRPr lang="en-US" sz="1000" dirty="0"/>
          </a:p>
        </p:txBody>
      </p:sp>
      <p:sp>
        <p:nvSpPr>
          <p:cNvPr id="148" name="Text 146"/>
          <p:cNvSpPr/>
          <p:nvPr/>
        </p:nvSpPr>
        <p:spPr>
          <a:xfrm>
            <a:off x="6400800" y="31546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6 carriers. Horizontal scroll reveals carriers 5 and 6.</a:t>
            </a:r>
            <a:endParaRPr lang="en-US" sz="850" dirty="0"/>
          </a:p>
        </p:txBody>
      </p:sp>
      <p:sp>
        <p:nvSpPr>
          <p:cNvPr id="149" name="Shape 147"/>
          <p:cNvSpPr/>
          <p:nvPr/>
        </p:nvSpPr>
        <p:spPr>
          <a:xfrm>
            <a:off x="6236208" y="3566160"/>
            <a:ext cx="263347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0" name="Shape 148"/>
          <p:cNvSpPr/>
          <p:nvPr/>
        </p:nvSpPr>
        <p:spPr>
          <a:xfrm>
            <a:off x="6236208" y="3566160"/>
            <a:ext cx="64008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6400800" y="3621024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Hover</a:t>
            </a:r>
            <a:endParaRPr lang="en-US" sz="1000" dirty="0"/>
          </a:p>
        </p:txBody>
      </p:sp>
      <p:sp>
        <p:nvSpPr>
          <p:cNvPr id="152" name="Text 150"/>
          <p:cNvSpPr/>
          <p:nvPr/>
        </p:nvSpPr>
        <p:spPr>
          <a:xfrm>
            <a:off x="6400800" y="386791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row highlights on hover. Click attribute name for definition tooltip.</a:t>
            </a:r>
            <a:endParaRPr lang="en-US" sz="850" dirty="0"/>
          </a:p>
        </p:txBody>
      </p:sp>
      <p:sp>
        <p:nvSpPr>
          <p:cNvPr id="153" name="Shape 151"/>
          <p:cNvSpPr/>
          <p:nvPr/>
        </p:nvSpPr>
        <p:spPr>
          <a:xfrm>
            <a:off x="6236208" y="4279392"/>
            <a:ext cx="263347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4" name="Shape 152"/>
          <p:cNvSpPr/>
          <p:nvPr/>
        </p:nvSpPr>
        <p:spPr>
          <a:xfrm>
            <a:off x="6236208" y="4279392"/>
            <a:ext cx="64008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400800" y="4334256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Columns</a:t>
            </a:r>
            <a:endParaRPr lang="en-US" sz="1000" dirty="0"/>
          </a:p>
        </p:txBody>
      </p:sp>
      <p:sp>
        <p:nvSpPr>
          <p:cNvPr id="156" name="Text 154"/>
          <p:cNvSpPr/>
          <p:nvPr/>
        </p:nvSpPr>
        <p:spPr>
          <a:xfrm>
            <a:off x="6400800" y="458114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carrier header to sort by that carrier's premium ascending.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6858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Wireframe: Action Panel &amp; Export Modal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949440" y="64008"/>
            <a:ext cx="1920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3 of 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92608" y="713232"/>
            <a:ext cx="539496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804672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PANEL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92608" y="1097280"/>
            <a:ext cx="539496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" y="1179576"/>
            <a:ext cx="1170432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1795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Gaps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82496" y="1179576"/>
            <a:ext cx="1170432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2496" y="11795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Quotes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62656" y="1179576"/>
            <a:ext cx="1170432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2656" y="11795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42816" y="1179576"/>
            <a:ext cx="1170432" cy="2560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42816" y="11795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Link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2336" y="1572768"/>
            <a:ext cx="5175504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166420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Scoring Weights  (adjustable by Team Lead)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" y="19568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Premium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77440" y="1984248"/>
            <a:ext cx="2286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1984248"/>
            <a:ext cx="800100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27448" y="19568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" y="22037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Breadth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77440" y="2231136"/>
            <a:ext cx="2286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231136"/>
            <a:ext cx="685800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22037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" y="2450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Rating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377440" y="2478024"/>
            <a:ext cx="2286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2478024"/>
            <a:ext cx="457200" cy="16459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7448" y="24505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" y="26974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Deductibles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377440" y="2724912"/>
            <a:ext cx="22860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2724912"/>
            <a:ext cx="34290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27448" y="26974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02336" y="31821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Notes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02336" y="3456432"/>
            <a:ext cx="517550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" y="3520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Hartford offers lowest premium but note ACV valuation — recommend Zurich for best overall coverage/price value. Client should understand the flood exclusion gap on Zurich.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02336" y="42062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02336" y="4480560"/>
            <a:ext cx="292608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" y="4480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Carrier  ▼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93008" y="4480560"/>
            <a:ext cx="1965960" cy="3200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93008" y="4480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Share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833872" y="713232"/>
            <a:ext cx="30175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833872" y="713232"/>
            <a:ext cx="301752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61888" y="78638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Comparison PDF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961888" y="121615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Options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961888" y="1527048"/>
            <a:ext cx="182880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61888" y="15270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217920" y="14904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all carriers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961888" y="1828800"/>
            <a:ext cx="182880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61888" y="18288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17920" y="17922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broker notes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961888" y="2130552"/>
            <a:ext cx="182880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61888" y="21305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217920" y="20939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gap flags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961888" y="2432304"/>
            <a:ext cx="18288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0" y="23957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scoring breakdown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961888" y="2734056"/>
            <a:ext cx="18288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17920" y="26974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carrier bios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961888" y="310896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961888" y="3383280"/>
            <a:ext cx="278892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35040" y="33832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Logo Upload  [Browse]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961888" y="3730752"/>
            <a:ext cx="278892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35040" y="373075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Name / Contact Info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961888" y="4169664"/>
            <a:ext cx="1335024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61888" y="416966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388352" y="4169664"/>
            <a:ext cx="1335024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88352" y="416966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PDF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925312" y="46268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Modal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77440"/>
            <a:ext cx="9144000" cy="64008"/>
          </a:xfrm>
          <a:prstGeom prst="rect">
            <a:avLst/>
          </a:prstGeom>
          <a:solidFill>
            <a:srgbClr val="D97706">
              <a:alpha val="45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FFFFF">
                    <a:alpha val="9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 ·  Data model  ·  Integrations  ·  Build phases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4988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16 – 20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6858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Tech Stack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949440" y="64008"/>
            <a:ext cx="1920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Specification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6974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2697480" cy="3840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822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234440"/>
            <a:ext cx="2468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18+ with TypeScript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for UI components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 for data fetching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Table for comparison grid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generation: react-pdf or jsPDF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build tooling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777240"/>
            <a:ext cx="26974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777240"/>
            <a:ext cx="26974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2696" y="822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82696" y="1234440"/>
            <a:ext cx="2468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 REST API  (or Node.js / Express)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(ORM)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(primary database)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(quote file attachments)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Hangfire (background jobs: PDF gen, alerts)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(session cache)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25896" y="777240"/>
            <a:ext cx="26974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25896" y="777240"/>
            <a:ext cx="269748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35624" y="822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35624" y="1234440"/>
            <a:ext cx="2468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 (web + API hosting)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B2C — SSO &amp; RBAC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 (secrets management)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Application Insights (logging)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CI/CD pipelines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 for portability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6858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— Key Entities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949440" y="64008"/>
            <a:ext cx="1920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Specification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92608" y="749808"/>
            <a:ext cx="23317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749808"/>
            <a:ext cx="2331720" cy="3200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0467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21854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152144"/>
            <a:ext cx="21488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account_id (PK)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created_by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renewal_date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26080" y="749808"/>
            <a:ext cx="23317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0" y="749808"/>
            <a:ext cx="2331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35808" y="80467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99232" y="1097280"/>
            <a:ext cx="21854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35808" y="1152144"/>
            <a:ext cx="21488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property_id (PK)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account_id (FK)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sq_footage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year_built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insured_value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77840" y="749808"/>
            <a:ext cx="3246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77840" y="749808"/>
            <a:ext cx="324612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7568" y="80467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50992" y="1097280"/>
            <a:ext cx="30998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87568" y="1152144"/>
            <a:ext cx="30632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carrier_id (PK)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carrier_name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am_best_rating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admitted_status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is_active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template_id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2608" y="3127248"/>
            <a:ext cx="23317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2608" y="3127248"/>
            <a:ext cx="233172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31821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74720"/>
            <a:ext cx="21854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529584"/>
            <a:ext cx="21488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quote_id (PK)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property_id (FK)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carrier_id (FK)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building_limit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expiry_date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raw_file_url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926080" y="3127248"/>
            <a:ext cx="23317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26080" y="3127248"/>
            <a:ext cx="2331720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35808" y="31821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99232" y="3474720"/>
            <a:ext cx="21854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35808" y="3529584"/>
            <a:ext cx="21488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comparison_id (PK)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account_id (FK)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created_by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score_weights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77840" y="3127248"/>
            <a:ext cx="3246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577840" y="3127248"/>
            <a:ext cx="3246120" cy="3200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87568" y="318211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650992" y="3474720"/>
            <a:ext cx="30998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87568" y="3529584"/>
            <a:ext cx="30632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(PK)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azure_oid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display_name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(enum)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team_id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624328" y="1828800"/>
            <a:ext cx="301752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33472" y="16916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463040" y="2944368"/>
            <a:ext cx="0" cy="18288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81328" y="27889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6858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Points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949440" y="64008"/>
            <a:ext cx="1920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Specification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13308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49808"/>
            <a:ext cx="73152" cy="13258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41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SSO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859536"/>
            <a:ext cx="1115568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85953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1152144"/>
            <a:ext cx="685800" cy="182880"/>
          </a:xfrm>
          <a:prstGeom prst="rect">
            <a:avLst/>
          </a:prstGeom>
          <a:solidFill>
            <a:srgbClr val="0284C7">
              <a:alpha val="25000"/>
            </a:srgbClr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15214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(MVP)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02920" y="138988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 authenticate via Azure AD. RBAC roles mapped to Azure AD groups. JWT tokens for API auth.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27448" y="749808"/>
            <a:ext cx="413308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749808"/>
            <a:ext cx="73152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841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AMS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07808" y="859536"/>
            <a:ext cx="1115568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07808" y="85953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10328" y="1152144"/>
            <a:ext cx="685800" cy="18288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115214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910328" y="138988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 sync: pull account data from EPIC, push comparison results. REST API integration using EPIC Open API.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212848"/>
            <a:ext cx="413308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212848"/>
            <a:ext cx="73152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304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AMS360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0" y="2322576"/>
            <a:ext cx="1115568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232257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2920" y="2615184"/>
            <a:ext cx="685800" cy="182880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61518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02920" y="28529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data import from AMS360 via Applied Net API. Reduces manual account setup for users.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27448" y="2212848"/>
            <a:ext cx="413308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27448" y="2212848"/>
            <a:ext cx="73152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2304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Portals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607808" y="2322576"/>
            <a:ext cx="1115568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07808" y="232257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910328" y="2615184"/>
            <a:ext cx="685800" cy="182880"/>
          </a:xfrm>
          <a:prstGeom prst="rect">
            <a:avLst/>
          </a:prstGeom>
          <a:solidFill>
            <a:srgbClr val="D97706">
              <a:alpha val="2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0328" y="261518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910328" y="28529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quote ingestion from supported carrier portals (Travelers ONE, Zurich ZConnect). Reduces manual upload.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3675888"/>
            <a:ext cx="413308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3675888"/>
            <a:ext cx="73152" cy="13258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767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DocuSign / eSign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00400" y="3785616"/>
            <a:ext cx="1115568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0" y="3785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02920" y="4078224"/>
            <a:ext cx="685800" cy="182880"/>
          </a:xfrm>
          <a:prstGeom prst="rect">
            <a:avLst/>
          </a:prstGeom>
          <a:solidFill>
            <a:srgbClr val="EC4899">
              <a:alpha val="2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0782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02920" y="43159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comparison reports for broker/client e-signature directly from the tool.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27448" y="3675888"/>
            <a:ext cx="413308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27448" y="3675888"/>
            <a:ext cx="73152" cy="1325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10328" y="3767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(SMTP/Graph)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607808" y="3785616"/>
            <a:ext cx="1115568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07808" y="3785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910328" y="4078224"/>
            <a:ext cx="685800" cy="182880"/>
          </a:xfrm>
          <a:prstGeom prst="rect">
            <a:avLst/>
          </a:prstGeom>
          <a:solidFill>
            <a:srgbClr val="059669">
              <a:alpha val="2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10328" y="40782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910328" y="43159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renewal alerts, share comparison links, and quote summary emails via Microsoft Graph API.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6858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Phases — Recommended Roadmap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949440" y="64008"/>
            <a:ext cx="1920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Specification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2011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49808"/>
            <a:ext cx="2011680" cy="5029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95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9875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1–8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335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Core Engine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645920"/>
            <a:ext cx="1783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00784"/>
            <a:ext cx="1828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quote entry form (all property types)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grid with color coding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gap detection (8 MVP rules)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comparison report export (basic)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SSO + role-based access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sharing via Microsoft Graph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749808"/>
            <a:ext cx="2011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749808"/>
            <a:ext cx="20116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795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9875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9–16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60320" y="1335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Integrations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0" y="1645920"/>
            <a:ext cx="1783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1700784"/>
            <a:ext cx="1828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Excel / Word file upload + auto-parse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multi-property upload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AMS integration (account import)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AMS360 client data sync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 engine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 + branded PDF templates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749808"/>
            <a:ext cx="2011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749808"/>
            <a:ext cx="20116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795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9875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17–24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09160" y="1335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645920"/>
            <a:ext cx="1783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700784"/>
            <a:ext cx="1828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portal API connectors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Portfolio-level comparison view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reporting (charts + benchmarks)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DocuSign / e-signature integration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tracking + alert dashboard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UI for carrier template management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749808"/>
            <a:ext cx="2011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66560" y="749808"/>
            <a:ext cx="201168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795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9875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25+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858000" y="1335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Optimize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0" y="1645920"/>
            <a:ext cx="1783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1700784"/>
            <a:ext cx="1828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PWA enhancements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for external tool integration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tuning for 10K+ comparisons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deployment option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(usage, time saved)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gap suggestion engine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877824"/>
            <a:ext cx="9144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78992"/>
            <a:ext cx="4133088" cy="1554480"/>
          </a:xfrm>
          <a:prstGeom prst="rect">
            <a:avLst/>
          </a:prstGeom>
          <a:solidFill>
            <a:srgbClr val="FFFFFF">
              <a:alpha val="11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78992"/>
            <a:ext cx="658368" cy="15544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6583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2618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Sign Off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67335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review of this spec. Confirm property types, attribute list, and Phase 1 scope.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73168" y="1078992"/>
            <a:ext cx="4133088" cy="1554480"/>
          </a:xfrm>
          <a:prstGeom prst="rect">
            <a:avLst/>
          </a:prstGeom>
          <a:solidFill>
            <a:srgbClr val="FFFFFF">
              <a:alpha val="11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3168" y="1078992"/>
            <a:ext cx="658368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078992"/>
            <a:ext cx="6583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50408" y="12618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50408" y="167335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Azure resources (App Service, PostgreSQL, Azure AD app registration, Blob Storage).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798064"/>
            <a:ext cx="4133088" cy="1554480"/>
          </a:xfrm>
          <a:prstGeom prst="rect">
            <a:avLst/>
          </a:prstGeom>
          <a:solidFill>
            <a:srgbClr val="FFFFFF">
              <a:alpha val="11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798064"/>
            <a:ext cx="658368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98064"/>
            <a:ext cx="6583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29809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Template Library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39242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sample quotes from Travelers, Zurich, Hartford, AIG, Chubb, CNA to build parse templates.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73168" y="2798064"/>
            <a:ext cx="4133088" cy="1554480"/>
          </a:xfrm>
          <a:prstGeom prst="rect">
            <a:avLst/>
          </a:prstGeom>
          <a:solidFill>
            <a:srgbClr val="FFFFFF">
              <a:alpha val="11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73168" y="2798064"/>
            <a:ext cx="658368" cy="1554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798064"/>
            <a:ext cx="6583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50408" y="29809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Sprint Planning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50408" y="339242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MVP scope into 2-week sprints. Prioritize: auth → manual entry → comparison grid → PDF export.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Contact your Project Lead to schedule the kick-off session.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Quote Comparison Tool v2.0 — Developer Handoff</dc:title>
  <dc:subject>PptxGenJS Presentation</dc:subject>
  <dc:creator>PptxGenJS</dc:creator>
  <cp:lastModifiedBy>PptxGenJS</cp:lastModifiedBy>
  <cp:revision>1</cp:revision>
  <dcterms:created xsi:type="dcterms:W3CDTF">2026-03-24T23:49:41Z</dcterms:created>
  <dcterms:modified xsi:type="dcterms:W3CDTF">2026-03-24T23:49:41Z</dcterms:modified>
</cp:coreProperties>
</file>